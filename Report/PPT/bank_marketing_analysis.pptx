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rgbClr val="2D8659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1 contact</c:v>
                </c:pt>
                <c:pt idx="1">
                  <c:v>2-3 contacts</c:v>
                </c:pt>
                <c:pt idx="2">
                  <c:v>4-5 contacts</c:v>
                </c:pt>
                <c:pt idx="3">
                  <c:v>6-10 contacts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11.2</c:v>
                </c:pt>
                <c:pt idx="2">
                  <c:v>8.6999999999999993</c:v>
                </c:pt>
                <c:pt idx="3">
                  <c:v>5.5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F07-4512-B0C0-6CCD20CA83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333333"/>
                </a:solidFill>
                <a:latin typeface="Calibri"/>
              </a:defRPr>
            </a:pPr>
            <a:r>
              <a:t>Bank Marketing Campaign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666666"/>
                </a:solidFill>
                <a:latin typeface="Calibri"/>
              </a:defRPr>
            </a:pPr>
            <a:r>
              <a:t>Improving Conversion Rates Through A/B Testing &amp; Statistical Segmentation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3200400" cy="45720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rPr dirty="0"/>
              <a:t>Ajo Alen</a:t>
            </a:r>
            <a:r>
              <a:rPr lang="en-US" dirty="0"/>
              <a:t> J</a:t>
            </a:r>
            <a:r>
              <a:rPr dirty="0"/>
              <a:t>een  |  MBA Candidate, Business Analytics — Pace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5303520"/>
            <a:ext cx="2011680" cy="1097280"/>
          </a:xfrm>
          <a:prstGeom prst="round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0" y="4754880"/>
            <a:ext cx="1371600" cy="914400"/>
          </a:xfrm>
          <a:prstGeom prst="round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58087" y="1645920"/>
            <a:ext cx="2926080" cy="1645920"/>
          </a:xfrm>
          <a:prstGeom prst="round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8087" y="178308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2D8659"/>
                </a:solidFill>
                <a:latin typeface="Calibri"/>
              </a:defRPr>
            </a:pPr>
            <a:r>
              <a:t>41,176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26060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calls made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645920"/>
            <a:ext cx="2926080" cy="1645920"/>
          </a:xfrm>
          <a:prstGeom prst="round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2807" y="178308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7B68B0"/>
                </a:solidFill>
                <a:latin typeface="Calibri"/>
              </a:defRPr>
            </a:pPr>
            <a:r>
              <a:t>11.27%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807" y="26060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conversion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7527" y="1645920"/>
            <a:ext cx="2926080" cy="164592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07527" y="178308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C0392B"/>
                </a:solidFill>
                <a:latin typeface="Calibri"/>
              </a:defRPr>
            </a:pPr>
            <a:r>
              <a:t>88.7%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527" y="26060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wasted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9966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A Portuguese bank's telemarketing campaign converted only 11% of contacts.</a:t>
            </a:r>
            <a:br/>
            <a:r>
              <a:t>9 out of every 10 calls produced no result.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91695" cy="73152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The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2D8659"/>
                </a:solidFill>
                <a:latin typeface="Calibri"/>
              </a:defRPr>
            </a:pPr>
            <a:r>
              <a:t>"How can we improve conversion rates and optimize contact strategies for term deposit subscriptions?"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20240"/>
            <a:ext cx="73152" cy="118872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64240" y="1920240"/>
            <a:ext cx="73152" cy="118872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Five sub-questions structured the analysis: baseline performance, segment ranking, key drivers, contact effectiveness, and strategy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5029200"/>
            <a:ext cx="2103120" cy="73152"/>
          </a:xfrm>
          <a:prstGeom prst="round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536192"/>
            <a:ext cx="164592" cy="164592"/>
          </a:xfrm>
          <a:prstGeom prst="ellipse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Exploratory Data Analysis</a:t>
            </a:r>
            <a:r>
              <a:rPr sz="1400">
                <a:solidFill>
                  <a:srgbClr val="666666"/>
                </a:solidFill>
                <a:latin typeface="Calibri"/>
              </a:rPr>
              <a:t> — distributions, missing values, multicollinearity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76272"/>
            <a:ext cx="164592" cy="164592"/>
          </a:xfrm>
          <a:prstGeom prst="ellipse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Statistical Hypothesis Testing</a:t>
            </a:r>
            <a:r>
              <a:rPr sz="1400">
                <a:solidFill>
                  <a:srgbClr val="666666"/>
                </a:solidFill>
                <a:latin typeface="Calibri"/>
              </a:rPr>
              <a:t> — chi-square, two-proportion z-tests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16352"/>
            <a:ext cx="164592" cy="164592"/>
          </a:xfrm>
          <a:prstGeom prst="ellipse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Effect Size Validation</a:t>
            </a:r>
            <a:r>
              <a:rPr sz="1400">
                <a:solidFill>
                  <a:srgbClr val="666666"/>
                </a:solidFill>
                <a:latin typeface="Calibri"/>
              </a:rPr>
              <a:t> — Cohen's h, Cramér's V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56432"/>
            <a:ext cx="164592" cy="164592"/>
          </a:xfrm>
          <a:prstGeom prst="ellipse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Customer Segmentation</a:t>
            </a:r>
            <a:r>
              <a:rPr sz="1400">
                <a:solidFill>
                  <a:srgbClr val="666666"/>
                </a:solidFill>
                <a:latin typeface="Calibri"/>
              </a:rPr>
              <a:t> — micro-segment analysis with sample-size guards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96512"/>
            <a:ext cx="164592" cy="164592"/>
          </a:xfrm>
          <a:prstGeom prst="ellipse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Temporal &amp; Macroeconomic Analysis</a:t>
            </a:r>
            <a:r>
              <a:rPr sz="1400">
                <a:solidFill>
                  <a:srgbClr val="666666"/>
                </a:solidFill>
                <a:latin typeface="Calibri"/>
              </a:rPr>
              <a:t> — year reconstruction, economic phase bucketing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36592"/>
            <a:ext cx="164592" cy="164592"/>
          </a:xfrm>
          <a:prstGeom prst="ellipse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Strategy Simulation</a:t>
            </a:r>
            <a:r>
              <a:rPr sz="1400">
                <a:solidFill>
                  <a:srgbClr val="666666"/>
                </a:solidFill>
                <a:latin typeface="Calibri"/>
              </a:rPr>
              <a:t> — four alternative targeting 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No predictive modeling — focus on statistical rigor and business interpretability.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Finding 1: Call Volume Was Inversely Related to Effectiveness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4572000" cy="1371600"/>
          </a:xfrm>
          <a:prstGeom prst="round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8659"/>
                </a:solidFill>
                <a:latin typeface="Calibri"/>
              </a:rPr>
              <a:t>May = 33% of calls, 6.4%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Bef>
                <a:spcPts val="200"/>
              </a:spcBef>
              <a:spcAft>
                <a:spcPts val="1000"/>
              </a:spcAft>
              <a:buChar char="●"/>
            </a:pPr>
            <a:r>
              <a:rPr sz="1500">
                <a:solidFill>
                  <a:srgbClr val="333333"/>
                </a:solidFill>
                <a:latin typeface="Calibri"/>
              </a:rPr>
              <a:t>  The bank concentrated effort on its worst-performing month</a:t>
            </a:r>
          </a:p>
          <a:p>
            <a:pPr marL="274320" indent="-228600">
              <a:spcBef>
                <a:spcPts val="200"/>
              </a:spcBef>
              <a:spcAft>
                <a:spcPts val="1000"/>
              </a:spcAft>
              <a:buChar char="●"/>
            </a:pPr>
            <a:r>
              <a:rPr sz="1500">
                <a:solidFill>
                  <a:srgbClr val="333333"/>
                </a:solidFill>
                <a:latin typeface="Calibri"/>
              </a:rPr>
              <a:t>  The four highest-converting months (Mar, Sep, Oct, Dec) received less than 5% of total call volume</a:t>
            </a:r>
          </a:p>
          <a:p>
            <a:pPr marL="274320" indent="-228600">
              <a:spcBef>
                <a:spcPts val="200"/>
              </a:spcBef>
              <a:spcAft>
                <a:spcPts val="1000"/>
              </a:spcAft>
              <a:buChar char="●"/>
            </a:pPr>
            <a:r>
              <a:rPr sz="1500">
                <a:solidFill>
                  <a:srgbClr val="333333"/>
                </a:solidFill>
                <a:latin typeface="Calibri"/>
              </a:rPr>
              <a:t>  Spread between best and worst month: 44 percentage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1463040"/>
            <a:ext cx="91440" cy="4114800"/>
          </a:xfrm>
          <a:prstGeom prst="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Finding 2: Macroeconomic Conditions Dominated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527" y="1463040"/>
            <a:ext cx="2743200" cy="164592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49527" y="160020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C0392B"/>
                </a:solidFill>
                <a:latin typeface="Calibri"/>
              </a:defRPr>
            </a:pPr>
            <a:r>
              <a:t>2008: 4.8%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9527" y="24231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Euribor 4.82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9426" y="1463040"/>
            <a:ext cx="2929467" cy="1645920"/>
          </a:xfrm>
          <a:prstGeom prst="round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22800" y="1600200"/>
            <a:ext cx="2929467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7B68B0"/>
                </a:solidFill>
                <a:latin typeface="Calibri"/>
              </a:defRPr>
            </a:pPr>
            <a:r>
              <a:rPr dirty="0"/>
              <a:t>2009:</a:t>
            </a:r>
            <a:r>
              <a:rPr lang="en-US" dirty="0"/>
              <a:t> </a:t>
            </a:r>
            <a:r>
              <a:rPr dirty="0"/>
              <a:t>19.</a:t>
            </a:r>
            <a:r>
              <a:rPr lang="en-US" dirty="0"/>
              <a:t>5</a:t>
            </a:r>
            <a:r>
              <a:rPr dirty="0"/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6657" y="24460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rPr dirty="0"/>
              <a:t>Euribor 1.23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2600" y="1463040"/>
            <a:ext cx="2929467" cy="1645920"/>
          </a:xfrm>
          <a:prstGeom prst="round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02600" y="1600200"/>
            <a:ext cx="29294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2D8659"/>
                </a:solidFill>
                <a:latin typeface="Calibri"/>
              </a:defRPr>
            </a:pPr>
            <a:r>
              <a:rPr dirty="0"/>
              <a:t>2010:</a:t>
            </a:r>
            <a:r>
              <a:rPr lang="en-US" dirty="0"/>
              <a:t> </a:t>
            </a:r>
            <a:r>
              <a:rPr dirty="0"/>
              <a:t>52.1%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967" y="24231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Euribor 0.81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Conversion rose 10x as interest rates fell. The bank made 67% of its calls in its worst-performing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The 'month effect' was largely a year confound — May converted at 3% in 2008 but 57% in 2010.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91695" cy="73152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Finding 3: Statistical Validation of Key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Size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Cellular vs Telephone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14.7% vs 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 = 0.33 (2.8× effect)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 &amp; Actionable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Previous Outcome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65.1% vs 8.8%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 = 1.27 (very large)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Dominant Effect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Effect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March vs 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 = 1.07 (very large)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Dominant (year-confounded)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Day of Week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Trivial spread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 = 0.025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Significant but Irrelevant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Day-of-week was deliberately included as a null finding — significant by p-value but trivial in effect size — to demonstrate statistical vs practical significance.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Finding 4: Diminishing Returns Set In After 3 Contacts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371600"/>
          <a:ext cx="9144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Beyond 5 contacts, additional calls actively hurt conversion.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Recommended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9728" cy="1188720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875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D8659"/>
                </a:solidFill>
                <a:latin typeface="Calibri"/>
              </a:defRPr>
            </a:pPr>
            <a:r>
              <a:t>Tier 1 — Immediate, no-risk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9875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Stop calling telephone + May + blue-collar/services/entrepreneur (saves 9% of calls, loses 3% of subscribers)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188720"/>
          </a:xfrm>
          <a:prstGeom prst="round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09728" cy="1188720"/>
          </a:xfrm>
          <a:prstGeom prst="rect">
            <a:avLst/>
          </a:prstGeom>
          <a:solidFill>
            <a:srgbClr val="7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7B68B0"/>
                </a:solidFill>
                <a:latin typeface="Calibri"/>
              </a:defRPr>
            </a:pPr>
            <a:r>
              <a:t>Tier 2 — Primary strategy: Crisis-Aware targeting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9875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Calibrate call volume to interest rate environment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371600"/>
          </a:xfrm>
          <a:prstGeom prst="round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09728" cy="1371600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59"/>
            <a:ext cx="9875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D8659"/>
                </a:solidFill>
                <a:latin typeface="Calibri"/>
              </a:defRPr>
            </a:pPr>
            <a:r>
              <a:t>Tier 3 — Within Crisis-Aware, prioritize: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9875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Cellular only  ·  Prior contact history  ·  Cap at 3 contacts per client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Projected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Calls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Subscribers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</a:t>
                      </a:r>
                    </a:p>
                  </a:txBody>
                  <a:tcPr anchor="ctr">
                    <a:solidFill>
                      <a:srgbClr val="2D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(actual)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41,176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659"/>
                          </a:solidFill>
                          <a:latin typeface="Calibri"/>
                        </a:defRPr>
                      </a:pPr>
                      <a:r>
                        <a:t>Crisis-Aware Strategy</a:t>
                      </a:r>
                    </a:p>
                  </a:txBody>
                  <a:tcPr anchor="ctr">
                    <a:solidFill>
                      <a:srgbClr val="A8D5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659"/>
                          </a:solidFill>
                          <a:latin typeface="Calibri"/>
                        </a:defRPr>
                      </a:pPr>
                      <a:r>
                        <a:t>11,652</a:t>
                      </a:r>
                    </a:p>
                  </a:txBody>
                  <a:tcPr anchor="ctr">
                    <a:solidFill>
                      <a:srgbClr val="A8D5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659"/>
                          </a:solidFill>
                          <a:latin typeface="Calibri"/>
                        </a:defRPr>
                      </a:pPr>
                      <a:r>
                        <a:t>2,999</a:t>
                      </a:r>
                    </a:p>
                  </a:txBody>
                  <a:tcPr anchor="ctr">
                    <a:solidFill>
                      <a:srgbClr val="A8D5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659"/>
                          </a:solidFill>
                          <a:latin typeface="Calibri"/>
                        </a:defRPr>
                      </a:pPr>
                      <a:r>
                        <a:t>25.74%</a:t>
                      </a:r>
                    </a:p>
                  </a:txBody>
                  <a:tcPr anchor="ctr">
                    <a:solidFill>
                      <a:srgbClr val="A8D5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2D8659"/>
                </a:solidFill>
                <a:latin typeface="Calibri"/>
              </a:defRPr>
            </a:pPr>
            <a:r>
              <a:t>65% of subscribers captured using 28% of call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2.28× conversion efficiency  ·  72% call reduction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91440" cy="822960"/>
          </a:xfrm>
          <a:prstGeom prst="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Retrospective, not predictive</a:t>
            </a:r>
            <a:r>
              <a:rPr sz="1400">
                <a:solidFill>
                  <a:srgbClr val="666666"/>
                </a:solidFill>
                <a:latin typeface="Calibri"/>
              </a:rPr>
              <a:t> — these are historical simulations, not forecasts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103327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91440" cy="822960"/>
          </a:xfrm>
          <a:prstGeom prst="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Crisis-period dataset</a:t>
            </a:r>
            <a:r>
              <a:rPr sz="1400">
                <a:solidFill>
                  <a:srgbClr val="666666"/>
                </a:solidFill>
                <a:latin typeface="Calibri"/>
              </a:rPr>
              <a:t> — findings should be revalidated in different economic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103327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91440" cy="822960"/>
          </a:xfrm>
          <a:prstGeom prst="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Volume-efficiency tradeoff</a:t>
            </a:r>
            <a:r>
              <a:rPr sz="1400">
                <a:solidFill>
                  <a:srgbClr val="666666"/>
                </a:solidFill>
                <a:latin typeface="Calibri"/>
              </a:rPr>
              <a:t> — Crisis-Aware strategy accepts a 35% subscriber loss for a 72% call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Acknowledging what the analysis cannot tell you is as important as the findings themselves.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333333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D8659"/>
                </a:solidFill>
                <a:latin typeface="Calibri"/>
              </a:defRPr>
            </a:pPr>
            <a:r>
              <a:t>Ajo Alenjeen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MBA Candidate, Business Analytics — Pace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8659"/>
                </a:solidFill>
                <a:latin typeface="Calibri"/>
              </a:defRPr>
            </a:pPr>
            <a:r>
              <a:t>linkedin.com/in/ajoalenjeen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8659"/>
                </a:solidFill>
                <a:latin typeface="Calibri"/>
              </a:defRPr>
            </a:pPr>
            <a:r>
              <a:t>github.com/ajoalenjeen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github.com/ajoalenjeen/BANK-MARKETING-CAMPAIGN-ANALYSIS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5303520"/>
            <a:ext cx="2011680" cy="1097280"/>
          </a:xfrm>
          <a:prstGeom prst="roundRect">
            <a:avLst/>
          </a:prstGeom>
          <a:solidFill>
            <a:srgbClr val="A8D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0" y="4754880"/>
            <a:ext cx="1371600" cy="914400"/>
          </a:xfrm>
          <a:prstGeom prst="roundRect">
            <a:avLst/>
          </a:prstGeom>
          <a:solidFill>
            <a:srgbClr val="C8B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622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Ajo Alen</cp:lastModifiedBy>
  <cp:revision>2</cp:revision>
  <dcterms:created xsi:type="dcterms:W3CDTF">2013-01-27T09:14:16Z</dcterms:created>
  <dcterms:modified xsi:type="dcterms:W3CDTF">2026-04-10T09:07:51Z</dcterms:modified>
  <cp:category/>
</cp:coreProperties>
</file>